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 SemiBold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B9AE32-2F3A-4815-A4E4-8863AB3C65E8}">
  <a:tblStyle styleId="{7EB9AE32-2F3A-4815-A4E4-8863AB3C65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regular.fntdata"/><Relationship Id="rId22" Type="http://schemas.openxmlformats.org/officeDocument/2006/relationships/font" Target="fonts/UrbanistSemiBold-italic.fntdata"/><Relationship Id="rId21" Type="http://schemas.openxmlformats.org/officeDocument/2006/relationships/font" Target="fonts/UrbanistSemiBold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34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10" Type="http://schemas.openxmlformats.org/officeDocument/2006/relationships/image" Target="../media/image11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41.png"/><Relationship Id="rId7" Type="http://schemas.openxmlformats.org/officeDocument/2006/relationships/image" Target="../media/image40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37.png"/><Relationship Id="rId5" Type="http://schemas.openxmlformats.org/officeDocument/2006/relationships/image" Target="../media/image31.png"/><Relationship Id="rId6" Type="http://schemas.openxmlformats.org/officeDocument/2006/relationships/image" Target="../media/image17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44.png"/><Relationship Id="rId5" Type="http://schemas.openxmlformats.org/officeDocument/2006/relationships/image" Target="../media/image21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5.png"/><Relationship Id="rId7" Type="http://schemas.openxmlformats.org/officeDocument/2006/relationships/image" Target="../media/image43.png"/><Relationship Id="rId8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6.png"/><Relationship Id="rId6" Type="http://schemas.openxmlformats.org/officeDocument/2006/relationships/image" Target="../media/image36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41591" y="2085975"/>
            <a:ext cx="54561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AI </a:t>
            </a:r>
            <a:r>
              <a:rPr b="1" i="0" lang="en-US" sz="5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Deadlift</a:t>
            </a: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Coach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35992" y="3297435"/>
            <a:ext cx="42672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全方位即時硬舉姿勢分析與訓練系統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93180" y="4276576"/>
            <a:ext cx="3552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Cloud Computing Final Project | 2024/2025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57250" y="31527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專案演進: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MVP 與 最終成品的差異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57250" y="36004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核心問題: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為什麼我們需要這個系統？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57250" y="40481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系統架構: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混合式 AI 引擎設計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57250" y="44958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核心技術: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醫學級演算法與機器學習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67500" y="31527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功能展示: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訓練追蹤與遊戲化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67500" y="36004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Live Demo: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系統實際操作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0" y="40481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雲端部署: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Render 與 Docker 架構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0" y="44958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未來展望: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下一步計畫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810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議程 (Agenda)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90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38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86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339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190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638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086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5339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6" name="Google Shape;116;p15"/>
          <p:cNvGraphicFramePr/>
          <p:nvPr/>
        </p:nvGraphicFramePr>
        <p:xfrm>
          <a:off x="571500" y="1666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{7EB9AE32-2F3A-4815-A4E4-8863AB3C65E8}</a:tableStyleId>
              </a:tblPr>
              <a:tblGrid>
                <a:gridCol w="2209800"/>
                <a:gridCol w="4419600"/>
                <a:gridCol w="4419600"/>
              </a:tblGrid>
              <a:tr h="61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功能維度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期中 MVP (Midterm)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期末完整版 (Final)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分析核心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基礎規則 (Rule-based)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混合智能 (規則 + ML Random Forest)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分析模式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單一即時模式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 種模式 (即時 / AI / 混合)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互動回饋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簡單 Canvas 繪圖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語音教練、音效、多層級視覺警告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功能深度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單次動作分析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訓練歷史、組數追蹤、遊戲化成就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部署環境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本地 Docker Compose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Render 雲端自動化部署 (CI/CD)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p15"/>
          <p:cNvSpPr/>
          <p:nvPr/>
        </p:nvSpPr>
        <p:spPr>
          <a:xfrm>
            <a:off x="571500" y="2308770"/>
            <a:ext cx="22098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2781300" y="2308770"/>
            <a:ext cx="44196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7200900" y="2308770"/>
            <a:ext cx="44196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71500" y="2923133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2781300" y="2923133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7200900" y="2923133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71500" y="3523208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2781300" y="3523208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7200900" y="3523208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71500" y="4123283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2781300" y="4123283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7200900" y="4123283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1500" y="4723358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2781300" y="4723358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7200900" y="4723358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571500" y="5323433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2781300" y="5323433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7200900" y="5323433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571500" y="3810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專案演進：從 MVP 到完整產品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71500" y="571500"/>
            <a:ext cx="456057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核心問題與動機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71500" y="1162050"/>
            <a:ext cx="45605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高風險傷害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1714500"/>
            <a:ext cx="4343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硬舉動作若出現圓背或過早伸髖，極易造成不可逆的脊椎傷害。自我訓練難以察覺細微錯誤。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71500" y="2609850"/>
            <a:ext cx="45605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缺乏即時性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71500" y="3162300"/>
            <a:ext cx="4343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傳統錄影回放無法提供「當下」的修正建議。我們需要毫秒級的延遲回饋。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71500" y="4057650"/>
            <a:ext cx="45605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專案目標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4610100"/>
            <a:ext cx="434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打造低成本、醫學級精準度的 AI 私人教練。</a:t>
            </a:r>
            <a:endParaRPr/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00150"/>
            <a:ext cx="26149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47950"/>
            <a:ext cx="23291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95750"/>
            <a:ext cx="261491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05350"/>
            <a:ext cx="11049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76375"/>
            <a:ext cx="34924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650" y="1476375"/>
            <a:ext cx="3492549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7950" y="1476375"/>
            <a:ext cx="349240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762000" y="489585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數據流：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Webcam → Frontend (MediaPipe) → JSON Landmarks → Backend (ML Inference) → Frontend (Feedback)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94228" y="2409825"/>
            <a:ext cx="30469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Frontend (React 19)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66775" y="2924175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負責即時影像擷取、MediaPipe 骨架追蹤、規則運算 (Rule Engine) 與使用介面渲染。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572375" y="240982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Backend (FastAPI)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4644925" y="29241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處理複雜運算、ML 模型推論 (Random Forest)、以及 Session 狀態管理。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350679" y="2409825"/>
            <a:ext cx="30469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Deployment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423225" y="2924175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Docker 容器化架構，部署於 Render PaaS，實現自動化 CI/CD 流程。</a:t>
            </a:r>
            <a:endParaRPr/>
          </a:p>
        </p:txBody>
      </p:sp>
      <p:pic>
        <p:nvPicPr>
          <p:cNvPr descr="image.png" id="169" name="Google Shape;16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27200" y="1790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5351" y="1790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36025" y="17907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571500" y="3810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系統架構：混合式 AI 引擎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70239"/>
            <a:ext cx="11049000" cy="1706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76375"/>
            <a:ext cx="5238750" cy="3008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1476375"/>
            <a:ext cx="5238750" cy="300811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605313" y="5065514"/>
            <a:ext cx="1098137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81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3. 混合模式 (Hybrid Mode) - 推薦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66775" y="5637014"/>
            <a:ext cx="10458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結合兩者優勢：以即時規則引擎為優先回饋，後端 ML 模型進行輔助確認，達到速度與精準度的完美平衡。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66775" y="1771650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即時模式 (Real-time)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66775" y="2324100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純前端計算，零 API 延遲。利用幾何規則引擎進行脊椎曲率與角度分析。適合網路不穩環境。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677025" y="1771650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AI 模式 (ML)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677025" y="2324100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純後端計算。將 30 幀動作序列送入 Random Forest 模型，識別 9 種複雜錯誤標籤（如：槓鈴離身太遠）。</a:t>
            </a:r>
            <a:endParaRPr/>
          </a:p>
        </p:txBody>
      </p:sp>
      <p:pic>
        <p:nvPicPr>
          <p:cNvPr descr="image.png" id="188" name="Google Shape;18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94100" y="5103614"/>
            <a:ext cx="3281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1809750"/>
            <a:ext cx="23291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77025" y="1809750"/>
            <a:ext cx="2614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571500" y="3810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創新功能：三種分析模式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7900" y="2114550"/>
            <a:ext cx="55626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6057900" y="571500"/>
            <a:ext cx="58407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技術細節：醫學級演算法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057900" y="1066800"/>
            <a:ext cx="584073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脊椎曲率計算 (Spine Curvature)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057900" y="161925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不同於傳統的肩臀連線，我們計算上下段脊椎向量的夾角：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057900" y="2790825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有效區分「正確的髖鉸鏈前傾」與「危險的圓背」。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057900" y="3381375"/>
            <a:ext cx="584073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Random Forest ML 模型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057900" y="3933825"/>
            <a:ext cx="5562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特徵提取：30 幀滑動視窗 (Sliding Window)，包含角度、向量與統計特徵。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057900" y="4733925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識別標籤：圓背、髖提早上升、鎖膝過早等 9 種錯誤。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34924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476375"/>
            <a:ext cx="3492549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476375"/>
            <a:ext cx="349240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794228" y="2409825"/>
            <a:ext cx="304694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語音教練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66775" y="2962275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使用 Web Speech API 進行即時中文語音播報：「注意背部打直」、「膝蓋不要內夾」，減少使用者看螢幕的負擔。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4572375" y="240982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量化數據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4644925" y="29622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即時計算 Reps、組數 (Sets)、以及每次動作的 0-100 分評分。提供組間休息計時器。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8350679" y="2409825"/>
            <a:ext cx="304694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成就系統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423225" y="2962275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透過 LocalStorage 記錄生涯數據，解鎖「初學者」、「訓練狂人」等徽章，提升訓練黏著度。</a:t>
            </a:r>
            <a:endParaRPr/>
          </a:p>
        </p:txBody>
      </p:sp>
      <p:pic>
        <p:nvPicPr>
          <p:cNvPr descr="image.png" id="221" name="Google Shape;22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17907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351" y="1790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9838" y="17907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571500" y="3810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使用者體驗：訓練追蹤與遊戲化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2625"/>
            <a:ext cx="2430660" cy="1230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1952625"/>
            <a:ext cx="2430660" cy="1230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860" y="1952625"/>
            <a:ext cx="2430660" cy="1230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9541" y="1952625"/>
            <a:ext cx="2430660" cy="123051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/>
          <p:nvPr/>
        </p:nvSpPr>
        <p:spPr>
          <a:xfrm>
            <a:off x="571500" y="254883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730760" y="2162175"/>
            <a:ext cx="21121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Capture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781050" y="2486025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Webcam 擷取影像，每 33ms 進行一次前端運算。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3603441" y="2162175"/>
            <a:ext cx="21121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Process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3653730" y="2486025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前端計算脊椎角度；同時每 30 幀打包數據送往後端。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476121" y="2162175"/>
            <a:ext cx="21121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3. Inference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526410" y="2486025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後端 RF 模型分析序列特徵，回傳 9 種姿勢標籤。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9348802" y="2162175"/>
            <a:ext cx="21121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4. Feedback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9399091" y="2486025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UI 融合兩者結果，觸發視覺警告與語音提示。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571500" y="3810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資料流程 (Data Flow)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716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571500" y="2814637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Render PaaS 部署</a:t>
            </a:r>
            <a:endParaRPr/>
          </a:p>
        </p:txBody>
      </p:sp>
      <p:pic>
        <p:nvPicPr>
          <p:cNvPr descr="image.png" id="253" name="Google Shape;25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812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857250" y="332898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自動化 CI/CD: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Push to GitHub 自動觸發部署。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857250" y="37766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Frontend: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建置為靜態網站，由 Nginx 服務。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857250" y="42243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Backend: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Python 容器，運行 Uvicorn Worker。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857250" y="4672012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配置管理: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使用 render.yaml 定義基礎設施代碼 (IaC)。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571500" y="3810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雲端部署架構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0" name="Google Shape;26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670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147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62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101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3825716" y="381000"/>
            <a:ext cx="4540567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Live Demo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3200400" y="1924050"/>
            <a:ext cx="5791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請展示即時分析、語音提示與成就解鎖功能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52387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476375"/>
            <a:ext cx="523875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866775" y="1771650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專案成果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866775" y="2324100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我們成功從一個簡單的規則系統，進化為包含 ML 預測、語音互動與遊戲化元素的完整產品。驗證了「混合式 AI」在運動科技的可行性。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6677025" y="1771650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9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未來展望</a:t>
            </a:r>
            <a:endParaRPr/>
          </a:p>
        </p:txBody>
      </p:sp>
      <p:pic>
        <p:nvPicPr>
          <p:cNvPr descr="image.png" id="281" name="Google Shape;28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809750"/>
            <a:ext cx="23291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1809750"/>
            <a:ext cx="2995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 txBox="1"/>
          <p:nvPr/>
        </p:nvSpPr>
        <p:spPr>
          <a:xfrm>
            <a:off x="6962775" y="2286000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多角度分析: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支援側面與正面同時分析。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6962775" y="2733675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社群功能: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好友排行榜與訓練菜單分享。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6962775" y="318135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邊緣計算: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將 ML 模型轉為 TensorFlow.js，實現完全離線執行。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571500" y="3810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總結與未來展望</a:t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571500" y="11811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8" name="Google Shape;288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2324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27717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32194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/>
          <p:nvPr/>
        </p:nvSpPr>
        <p:spPr>
          <a:xfrm>
            <a:off x="571500" y="141922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571500" y="220399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571500" y="298876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9" name="Google Shape;29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/>
          <p:nvPr/>
        </p:nvSpPr>
        <p:spPr>
          <a:xfrm>
            <a:off x="571500" y="21944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571500" y="21944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2" name="Google Shape;30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2095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/>
          <p:nvPr/>
        </p:nvSpPr>
        <p:spPr>
          <a:xfrm>
            <a:off x="571500" y="29792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571500" y="29792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5" name="Google Shape;30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26866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/>
          <p:nvPr/>
        </p:nvSpPr>
        <p:spPr>
          <a:xfrm>
            <a:off x="571500" y="39621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571500" y="39621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8" name="Google Shape;30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0972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686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1666875" y="156210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https://media.craiyon.com/2025-10-13/kNWUVsrhTcWX36DvWNlxsQ.webp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666875" y="18078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www.craiyon.com</a:t>
            </a:r>
            <a:endParaRPr/>
          </a:p>
        </p:txBody>
      </p:sp>
      <p:pic>
        <p:nvPicPr>
          <p:cNvPr descr="image.png" id="312" name="Google Shape;31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534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/>
          <p:nvPr/>
        </p:nvSpPr>
        <p:spPr>
          <a:xfrm>
            <a:off x="1666875" y="234687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https://www.mdpi.com/sensors/sensors-22-08738/article_deploy/html/images/sensors-22-08738-g014-550.jpg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1666875" y="259258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www.mdpi.com</a:t>
            </a:r>
            <a:endParaRPr/>
          </a:p>
        </p:txBody>
      </p:sp>
      <p:pic>
        <p:nvPicPr>
          <p:cNvPr descr="image.png" id="315" name="Google Shape;31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2373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5"/>
          <p:cNvSpPr txBox="1"/>
          <p:nvPr/>
        </p:nvSpPr>
        <p:spPr>
          <a:xfrm>
            <a:off x="1666875" y="313164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https://static.vecteezy.com/system/resources/thumbnails/067/447/558/small/cloud-data-flow-abstract-background-big-data-ai-and-digital-line-circle-connections-futuristic-tech-network-for-secure-iot-servers-or-3d-information-space-neon-particle-torus-system-in-light-vector.jpg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1666875" y="357544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318" name="Google Shape;31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2201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5"/>
          <p:cNvSpPr txBox="1"/>
          <p:nvPr/>
        </p:nvSpPr>
        <p:spPr>
          <a:xfrm>
            <a:off x="1666875" y="411450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https://dm0qx8t0i9gc9.cloudfront.net/watermarks/image/rDtN98Qoishumwih/graphicstock-futuristic-fuel-supply-system-hud-interface-layout-big-set-of-infographic-elements-virtual-technology-background-with-statistical-bars-graphs-and-charts_SkG4-34ppg_SB_PM.jpg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1666875" y="455830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www.storyblocks.com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571500" y="3810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